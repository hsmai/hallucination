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96596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Omni-Steering 비교군 재실험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822960" y="29260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정량 결과 보고 — Base · VCD · AVCD · MAD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9DB2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VideoLLaMA2-AV · Qwen2.5-Omni-7B  ×  CMM(1,200) · AVHBench(3,419)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9DB2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총 18,476 예측 — Ours(선배 실측)와 동일 조건에서 재실험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6035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8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2026-07-20  ·  RTX 3090 24GB (pleiades3)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실험 셋업 — Ours와 동일 조건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3268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모든 세팅은 unified_settings.yaml 단일 소스, 게이트 검증 후 확정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481328"/>
            <a:ext cx="1965960" cy="658368"/>
          </a:xfrm>
          <a:prstGeom prst="roundRect">
            <a:avLst>
              <a:gd name="adj" fmla="val 8333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481328"/>
            <a:ext cx="1965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환경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606040" y="1481328"/>
            <a:ext cx="9098280" cy="658368"/>
          </a:xfrm>
          <a:prstGeom prst="roundRect">
            <a:avLst>
              <a:gd name="adj" fmla="val 8333"/>
            </a:avLst>
          </a:prstGeom>
          <a:solidFill>
            <a:srgbClr val="F4F7FC"/>
          </a:solidFill>
          <a:ln/>
        </p:spPr>
      </p:sp>
      <p:sp>
        <p:nvSpPr>
          <p:cNvPr id="7" name="Text 5"/>
          <p:cNvSpPr/>
          <p:nvPr/>
        </p:nvSpPr>
        <p:spPr>
          <a:xfrm>
            <a:off x="2788920" y="1481328"/>
            <a:ext cx="8778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RTX 3090 24GB ×1 · conda 2종(선배 env 복제): transformers 4.52.3/torch 2.5.1 (Qwen), 4.42.3/2.2.0 (VL2)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322576"/>
            <a:ext cx="1965960" cy="658368"/>
          </a:xfrm>
          <a:prstGeom prst="roundRect">
            <a:avLst>
              <a:gd name="adj" fmla="val 8333"/>
            </a:avLst>
          </a:prstGeom>
          <a:solidFill>
            <a:srgbClr val="1E2761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2322576"/>
            <a:ext cx="1965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모델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606040" y="2322576"/>
            <a:ext cx="9098280" cy="658368"/>
          </a:xfrm>
          <a:prstGeom prst="roundRect">
            <a:avLst>
              <a:gd name="adj" fmla="val 8333"/>
            </a:avLst>
          </a:prstGeom>
          <a:solidFill>
            <a:srgbClr val="F4F7FC"/>
          </a:solidFill>
          <a:ln/>
        </p:spPr>
      </p:sp>
      <p:sp>
        <p:nvSpPr>
          <p:cNvPr id="11" name="Text 9"/>
          <p:cNvSpPr/>
          <p:nvPr/>
        </p:nvSpPr>
        <p:spPr>
          <a:xfrm>
            <a:off x="2788920" y="2322576"/>
            <a:ext cx="8778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VideoLLaMA2.1-7B-AV (bf16) · Qwen2.5-Omni-7B (선배 HF 캐시 스냅샷, bf16, talker 미생성)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3163824"/>
            <a:ext cx="1965960" cy="658368"/>
          </a:xfrm>
          <a:prstGeom prst="roundRect">
            <a:avLst>
              <a:gd name="adj" fmla="val 8333"/>
            </a:avLst>
          </a:prstGeom>
          <a:solidFill>
            <a:srgbClr val="1E2761"/>
          </a:solidFill>
          <a:ln/>
        </p:spPr>
      </p:sp>
      <p:sp>
        <p:nvSpPr>
          <p:cNvPr id="13" name="Text 11"/>
          <p:cNvSpPr/>
          <p:nvPr/>
        </p:nvSpPr>
        <p:spPr>
          <a:xfrm>
            <a:off x="502920" y="3163824"/>
            <a:ext cx="1965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벤치마크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2606040" y="3163824"/>
            <a:ext cx="9098280" cy="658368"/>
          </a:xfrm>
          <a:prstGeom prst="roundRect">
            <a:avLst>
              <a:gd name="adj" fmla="val 8333"/>
            </a:avLst>
          </a:prstGeom>
          <a:solidFill>
            <a:srgbClr val="F4F7FC"/>
          </a:solidFill>
          <a:ln/>
        </p:spPr>
      </p:sp>
      <p:sp>
        <p:nvSpPr>
          <p:cNvPr id="15" name="Text 13"/>
          <p:cNvSpPr/>
          <p:nvPr/>
        </p:nvSpPr>
        <p:spPr>
          <a:xfrm>
            <a:off x="2788920" y="3163824"/>
            <a:ext cx="8778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AVHBench full QA 3,419 (VdAH 2,287 + AdVH 1,132, MAD 프로토콜) · CMM 1,200 (V/A/L Dominance × 400)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02920" y="4005072"/>
            <a:ext cx="1965960" cy="658368"/>
          </a:xfrm>
          <a:prstGeom prst="roundRect">
            <a:avLst>
              <a:gd name="adj" fmla="val 8333"/>
            </a:avLst>
          </a:prstGeom>
          <a:solidFill>
            <a:srgbClr val="1E2761"/>
          </a:solidFill>
          <a:ln/>
        </p:spPr>
      </p:sp>
      <p:sp>
        <p:nvSpPr>
          <p:cNvPr id="17" name="Text 15"/>
          <p:cNvSpPr/>
          <p:nvPr/>
        </p:nvSpPr>
        <p:spPr>
          <a:xfrm>
            <a:off x="502920" y="4005072"/>
            <a:ext cx="1965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디코딩·채점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2606040" y="4005072"/>
            <a:ext cx="9098280" cy="658368"/>
          </a:xfrm>
          <a:prstGeom prst="roundRect">
            <a:avLst>
              <a:gd name="adj" fmla="val 8333"/>
            </a:avLst>
          </a:prstGeom>
          <a:solidFill>
            <a:srgbClr val="F4F7FC"/>
          </a:solidFill>
          <a:ln/>
        </p:spPr>
      </p:sp>
      <p:sp>
        <p:nvSpPr>
          <p:cNvPr id="19" name="Text 17"/>
          <p:cNvSpPr/>
          <p:nvPr/>
        </p:nvSpPr>
        <p:spPr>
          <a:xfrm>
            <a:off x="2788920" y="4005072"/>
            <a:ext cx="8778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greedy (do_sample=false) · max_new_tokens=1 · seed 42 · 모델별 자체 eval suffix · mad_score 채점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02920" y="4846320"/>
            <a:ext cx="1965960" cy="658368"/>
          </a:xfrm>
          <a:prstGeom prst="roundRect">
            <a:avLst>
              <a:gd name="adj" fmla="val 8333"/>
            </a:avLst>
          </a:prstGeom>
          <a:solidFill>
            <a:srgbClr val="1E2761"/>
          </a:solidFill>
          <a:ln/>
        </p:spPr>
      </p:sp>
      <p:sp>
        <p:nvSpPr>
          <p:cNvPr id="21" name="Text 19"/>
          <p:cNvSpPr/>
          <p:nvPr/>
        </p:nvSpPr>
        <p:spPr>
          <a:xfrm>
            <a:off x="502920" y="4846320"/>
            <a:ext cx="1965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오디오 입력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2606040" y="4846320"/>
            <a:ext cx="9098280" cy="658368"/>
          </a:xfrm>
          <a:prstGeom prst="roundRect">
            <a:avLst>
              <a:gd name="adj" fmla="val 8333"/>
            </a:avLst>
          </a:prstGeom>
          <a:solidFill>
            <a:srgbClr val="F4F7FC"/>
          </a:solidFill>
          <a:ln/>
        </p:spPr>
      </p:sp>
      <p:sp>
        <p:nvSpPr>
          <p:cNvPr id="23" name="Text 21"/>
          <p:cNvSpPr/>
          <p:nvPr/>
        </p:nvSpPr>
        <p:spPr>
          <a:xfrm>
            <a:off x="2788920" y="4846320"/>
            <a:ext cx="8778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AVH: mp4 muxed 트랙 · CMM: 무음 mp4 + 별도 wav (Ours와 동일 — MAD repo는 무음 트랙 사용, 격차 원인)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502920" y="5687568"/>
            <a:ext cx="1965960" cy="658368"/>
          </a:xfrm>
          <a:prstGeom prst="roundRect">
            <a:avLst>
              <a:gd name="adj" fmla="val 8333"/>
            </a:avLst>
          </a:prstGeom>
          <a:solidFill>
            <a:srgbClr val="1E2761"/>
          </a:solidFill>
          <a:ln/>
        </p:spPr>
      </p:sp>
      <p:sp>
        <p:nvSpPr>
          <p:cNvPr id="25" name="Text 23"/>
          <p:cNvSpPr/>
          <p:nvPr/>
        </p:nvSpPr>
        <p:spPr>
          <a:xfrm>
            <a:off x="502920" y="5687568"/>
            <a:ext cx="1965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하이퍼파라미터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2606040" y="5687568"/>
            <a:ext cx="9098280" cy="658368"/>
          </a:xfrm>
          <a:prstGeom prst="roundRect">
            <a:avLst>
              <a:gd name="adj" fmla="val 8333"/>
            </a:avLst>
          </a:prstGeom>
          <a:solidFill>
            <a:srgbClr val="F4F7FC"/>
          </a:solidFill>
          <a:ln/>
        </p:spPr>
      </p:sp>
      <p:sp>
        <p:nvSpPr>
          <p:cNvPr id="27" name="Text 25"/>
          <p:cNvSpPr/>
          <p:nvPr/>
        </p:nvSpPr>
        <p:spPr>
          <a:xfrm>
            <a:off x="2788920" y="5687568"/>
            <a:ext cx="8778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 γ=2.5 · VCD-ext α=0.5 · AVCD α: AVH 2.5 / CMM VL2 2.5·Qwen 0.5, EAD τ=0.6 (전부 게이트 그리드 확정)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최종 수치표 (비교군 전량 재실험)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3268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% — CMM 3 dominance + Overall / AVHBench 2 task + Overall</a:t>
            </a:r>
            <a:endParaRPr lang="en-US" sz="13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554480"/>
          <a:ext cx="111556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371600"/>
                <a:gridCol w="960120"/>
                <a:gridCol w="960120"/>
                <a:gridCol w="1097280"/>
                <a:gridCol w="1234440"/>
                <a:gridCol w="1234440"/>
                <a:gridCol w="1234440"/>
                <a:gridCol w="960120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Visual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Language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CMM Overall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Video-Driven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Audio-Driven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AVH Overall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VideoLLaMA2-AV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VCD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AVCD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71.8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81.8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MAD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Qwen2.5-Omni-7B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81.2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VCD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64.5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82.2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AVCD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82.2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71.4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MAD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82.0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81.0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9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58978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읽는 법:  </a:t>
            </a:r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 표의 Baseline은 선배 Ours(Base) 실측과 전 지표 ±1.4pp 이내로 일치 — Ours 행과 직접 비교 가능한 동일 조건 수치. </a:t>
            </a:r>
            <a:pPr indent="0" marL="0">
              <a:buNone/>
            </a:pPr>
            <a:r>
              <a:rPr lang="en-US" sz="13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 논문 표(Table 1)와 다른 셀은 다음 장에서 원인별 설명.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신뢰성 검증 — “Ours와 같은 조건” 입증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3268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게이트(200샘플 사전검증) + 전량 실행 이중 확인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60020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7FC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783080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E84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 / 14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731520" y="269748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지표 전부 목표 정합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31520" y="3154680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양 모델 × 7지표, 최대 Δ1.4pp (허용 ±2.0)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288536" y="160020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7FC"/>
          </a:solidFill>
          <a:ln/>
        </p:spPr>
      </p:sp>
      <p:sp>
        <p:nvSpPr>
          <p:cNvPr id="9" name="Text 7"/>
          <p:cNvSpPr/>
          <p:nvPr/>
        </p:nvSpPr>
        <p:spPr>
          <a:xfrm>
            <a:off x="4288536" y="1783080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E84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 / 7</a:t>
            </a:r>
            <a:endParaRPr lang="en-US" sz="4400" dirty="0"/>
          </a:p>
        </p:txBody>
      </p:sp>
      <p:sp>
        <p:nvSpPr>
          <p:cNvPr id="10" name="Text 8"/>
          <p:cNvSpPr/>
          <p:nvPr/>
        </p:nvSpPr>
        <p:spPr>
          <a:xfrm>
            <a:off x="4517136" y="269748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 MAD 지표 전부 정합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517136" y="3154680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CMM 81.0 vs 81.4 · AVH 80.7 vs 81.6 — 방법 구현 정확성 입증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074152" y="160020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7FC"/>
          </a:solidFill>
          <a:ln/>
        </p:spPr>
      </p:sp>
      <p:sp>
        <p:nvSpPr>
          <p:cNvPr id="13" name="Text 11"/>
          <p:cNvSpPr/>
          <p:nvPr/>
        </p:nvSpPr>
        <p:spPr>
          <a:xfrm>
            <a:off x="8074152" y="1783080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98~99.5%</a:t>
            </a:r>
            <a:endParaRPr lang="en-US" sz="4400" dirty="0"/>
          </a:p>
        </p:txBody>
      </p:sp>
      <p:sp>
        <p:nvSpPr>
          <p:cNvPr id="14" name="Text 12"/>
          <p:cNvSpPr/>
          <p:nvPr/>
        </p:nvSpPr>
        <p:spPr>
          <a:xfrm>
            <a:off x="8302752" y="269748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선배 출력과 per-sample 일치율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302752" y="3154680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동일 샘플에서 예측 자체가 일치 (집계 우연 아님)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02920" y="425196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검증 4단 체계 (신규 구현 구역: AVCD×Qwen 포팅 · AVCD×CMM 이식 · VCD-ext)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502920" y="4754880"/>
            <a:ext cx="2606040" cy="1051560"/>
          </a:xfrm>
          <a:prstGeom prst="roundRect">
            <a:avLst>
              <a:gd name="adj" fmla="val 6957"/>
            </a:avLst>
          </a:prstGeom>
          <a:solidFill>
            <a:srgbClr val="1E2761"/>
          </a:solidFill>
          <a:ln/>
        </p:spPr>
      </p:sp>
      <p:sp>
        <p:nvSpPr>
          <p:cNvPr id="18" name="Text 16"/>
          <p:cNvSpPr/>
          <p:nvPr/>
        </p:nvSpPr>
        <p:spPr>
          <a:xfrm>
            <a:off x="594360" y="4754880"/>
            <a:ext cx="2423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수식 단위테스트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(논문 수식 대조)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3108960" y="502920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B7280"/>
                </a:solidFill>
              </a:rPr>
              <a:t>→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3429000" y="4754880"/>
            <a:ext cx="2606040" cy="1051560"/>
          </a:xfrm>
          <a:prstGeom prst="roundRect">
            <a:avLst>
              <a:gd name="adj" fmla="val 6957"/>
            </a:avLst>
          </a:prstGeom>
          <a:solidFill>
            <a:srgbClr val="1E2761"/>
          </a:solidFill>
          <a:ln/>
        </p:spPr>
      </p:sp>
      <p:sp>
        <p:nvSpPr>
          <p:cNvPr id="21" name="Text 19"/>
          <p:cNvSpPr/>
          <p:nvPr/>
        </p:nvSpPr>
        <p:spPr>
          <a:xfrm>
            <a:off x="3520440" y="4754880"/>
            <a:ext cx="2423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로컬 통합테스트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(MockModel 배관)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035040" y="502920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B7280"/>
                </a:solidFill>
              </a:rPr>
              <a:t>→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6355080" y="4754880"/>
            <a:ext cx="2606040" cy="1051560"/>
          </a:xfrm>
          <a:prstGeom prst="roundRect">
            <a:avLst>
              <a:gd name="adj" fmla="val 6957"/>
            </a:avLst>
          </a:prstGeom>
          <a:solidFill>
            <a:srgbClr val="1E2761"/>
          </a:solidFill>
          <a:ln/>
        </p:spPr>
      </p:sp>
      <p:sp>
        <p:nvSpPr>
          <p:cNvPr id="24" name="Text 22"/>
          <p:cNvSpPr/>
          <p:nvPr/>
        </p:nvSpPr>
        <p:spPr>
          <a:xfrm>
            <a:off x="6446520" y="4754880"/>
            <a:ext cx="2423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서버 스모크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(실모델 소량)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8961120" y="502920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B7280"/>
                </a:solidFill>
              </a:rPr>
              <a:t>→</a:t>
            </a:r>
            <a:endParaRPr lang="en-US" sz="2000" dirty="0"/>
          </a:p>
        </p:txBody>
      </p:sp>
      <p:sp>
        <p:nvSpPr>
          <p:cNvPr id="26" name="Shape 24"/>
          <p:cNvSpPr/>
          <p:nvPr/>
        </p:nvSpPr>
        <p:spPr>
          <a:xfrm>
            <a:off x="9281160" y="4754880"/>
            <a:ext cx="2606040" cy="1051560"/>
          </a:xfrm>
          <a:prstGeom prst="roundRect">
            <a:avLst>
              <a:gd name="adj" fmla="val 6957"/>
            </a:avLst>
          </a:prstGeom>
          <a:solidFill>
            <a:srgbClr val="1E2761"/>
          </a:solidFill>
          <a:ln/>
        </p:spPr>
      </p:sp>
      <p:sp>
        <p:nvSpPr>
          <p:cNvPr id="27" name="Text 25"/>
          <p:cNvSpPr/>
          <p:nvPr/>
        </p:nvSpPr>
        <p:spPr>
          <a:xfrm>
            <a:off x="9372600" y="4754880"/>
            <a:ext cx="2423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 게이트 수치 대조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(200샘플 vs 목표치)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MAD 논문 표와의 격차 — 원인별 3그룹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3268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56셀 중 32셀 ±2pp 정합 · 격차 셀은 전부 원인 규명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508760"/>
            <a:ext cx="3639312" cy="3749040"/>
          </a:xfrm>
          <a:prstGeom prst="roundRect">
            <a:avLst>
              <a:gd name="adj" fmla="val 2010"/>
            </a:avLst>
          </a:prstGeom>
          <a:solidFill>
            <a:srgbClr val="F4F7FC"/>
          </a:solidFill>
          <a:ln/>
        </p:spPr>
      </p:sp>
      <p:sp>
        <p:nvSpPr>
          <p:cNvPr id="5" name="Text 3"/>
          <p:cNvSpPr/>
          <p:nvPr/>
        </p:nvSpPr>
        <p:spPr>
          <a:xfrm>
            <a:off x="704088" y="1691640"/>
            <a:ext cx="3246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그룹 1 · 정합 (32셀)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704088" y="2331720"/>
            <a:ext cx="324612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전체, Qwen MAD 전체, VL2 AVCD, VL2 MAD(AVH) 등 ±2pp 이내.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핵심: 논문의 Qwen Baseline(64.5/72.3)은 선배 실측(68.8/69.5)과도 다름 — 우리는 선배와 Δ0.2~0.5 일치. “논문과 다름 ≠ 오류”의 직접 증거.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288536" y="1508760"/>
            <a:ext cx="3639312" cy="3749040"/>
          </a:xfrm>
          <a:prstGeom prst="roundRect">
            <a:avLst>
              <a:gd name="adj" fmla="val 2010"/>
            </a:avLst>
          </a:prstGeom>
          <a:solidFill>
            <a:srgbClr val="F4F7FC"/>
          </a:solidFill>
          <a:ln/>
        </p:spPr>
      </p:sp>
      <p:sp>
        <p:nvSpPr>
          <p:cNvPr id="8" name="Text 6"/>
          <p:cNvSpPr/>
          <p:nvPr/>
        </p:nvSpPr>
        <p:spPr>
          <a:xfrm>
            <a:off x="4489704" y="1691640"/>
            <a:ext cx="3246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그룹 2 · 대격차 — VL2 VCD/MAD × CMM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4489704" y="2331720"/>
            <a:ext cx="324612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VCD: 76.4 → 58.5 (−17.9) · MAD: 81.3 → 70.9 (−10.4)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원인: 오디오 입력 규약 차이. 재현 실험(우측 장)에서 세 가지 공급 방식에 따라 수치가 52~81pp 폭으로 요동함을 실증 — 이 셀들은 방법이 아니라 입력 규약이 지배.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074152" y="1508760"/>
            <a:ext cx="3639312" cy="3749040"/>
          </a:xfrm>
          <a:prstGeom prst="roundRect">
            <a:avLst>
              <a:gd name="adj" fmla="val 2010"/>
            </a:avLst>
          </a:prstGeom>
          <a:solidFill>
            <a:srgbClr val="F4F7FC"/>
          </a:solidFill>
          <a:ln/>
        </p:spPr>
      </p:sp>
      <p:sp>
        <p:nvSpPr>
          <p:cNvPr id="11" name="Text 9"/>
          <p:cNvSpPr/>
          <p:nvPr/>
        </p:nvSpPr>
        <p:spPr>
          <a:xfrm>
            <a:off x="8275320" y="1691640"/>
            <a:ext cx="3246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B795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그룹 3 · 소폭 차이 (±2~4.5pp)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8275320" y="2331720"/>
            <a:ext cx="324612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 AVCD(원저자 구현 비공개 → 본 프로젝트 신규 포팅, 참고 대조군) · Qwen VCD(원저 α 미공개 — α=2.5는 게이트에서 전조합 붕괴 실측, α=0.5 확정) — 프로토콜·구현 세부 차이 범위.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502920" y="548640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그룹 2 교차 증거 3종: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같은 코드가 함정 없는 AVHBench에선 논문과 정합 (VL2 MAD AVH 78.2 vs 79.4)   ② 같은 코드가 Qwen CMM에선 정합 (VCD 72.1 vs 72.8)   ③ MAD Eq.9 가중치 수식 단위검증 통과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실증 실험 — “그 입력이면 논문 수치가 나온다”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3268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trap_emulation 스위치로 MAD repo식 CMM 입력을 재현해 재실행 (본 결과 무변경, 별도 태그)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3383280" cy="1737360"/>
          </a:xfrm>
          <a:prstGeom prst="roundRect">
            <a:avLst>
              <a:gd name="adj" fmla="val 4211"/>
            </a:avLst>
          </a:prstGeom>
          <a:solidFill>
            <a:srgbClr val="F4F7FC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201168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 repo 입력 재현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822960" y="278892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별도 wav 무시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무음 mp4 트랙 → audio branch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4023360" y="2468880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B7280"/>
                </a:solidFill>
              </a:rPr>
              <a:t>→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4434840" y="1828800"/>
            <a:ext cx="3383280" cy="1737360"/>
          </a:xfrm>
          <a:prstGeom prst="roundRect">
            <a:avLst>
              <a:gd name="adj" fmla="val 4211"/>
            </a:avLst>
          </a:prstGeom>
          <a:solidFill>
            <a:srgbClr val="F4F7FC"/>
          </a:solidFill>
          <a:ln/>
        </p:spPr>
      </p:sp>
      <p:sp>
        <p:nvSpPr>
          <p:cNvPr id="9" name="Text 7"/>
          <p:cNvSpPr/>
          <p:nvPr/>
        </p:nvSpPr>
        <p:spPr>
          <a:xfrm>
            <a:off x="4617720" y="201168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VL2 MAD × CMM 1,200</a:t>
            </a:r>
            <a:endParaRPr lang="en-US" sz="1450" dirty="0"/>
          </a:p>
          <a:p>
            <a:pPr algn="ctr"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VL2 VCD × CMM 1,200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4617720" y="278892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동일 코드·동일 하이퍼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입력 방식만 교체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7818120" y="2468880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B7280"/>
                </a:solidFill>
              </a:rPr>
              <a:t>→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8229600" y="1828800"/>
            <a:ext cx="3383280" cy="1737360"/>
          </a:xfrm>
          <a:prstGeom prst="roundRect">
            <a:avLst>
              <a:gd name="adj" fmla="val 4211"/>
            </a:avLst>
          </a:prstGeom>
          <a:solidFill>
            <a:srgbClr val="FBEEE6"/>
          </a:solidFill>
          <a:ln/>
        </p:spPr>
      </p:sp>
      <p:sp>
        <p:nvSpPr>
          <p:cNvPr id="13" name="Text 11"/>
          <p:cNvSpPr/>
          <p:nvPr/>
        </p:nvSpPr>
        <p:spPr>
          <a:xfrm>
            <a:off x="8412480" y="201168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결과: 57.2 / 52.4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8412480" y="278892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복원 실패 — 규약 민감성만 실증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(논문 81.3/76.4 · 교정입력 70.9/58.5)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40080" y="4069080"/>
            <a:ext cx="10881360" cy="1554480"/>
          </a:xfrm>
          <a:prstGeom prst="roundRect">
            <a:avLst>
              <a:gd name="adj" fmla="val 4706"/>
            </a:avLst>
          </a:prstGeom>
          <a:solidFill>
            <a:srgbClr val="1E2761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4251960"/>
            <a:ext cx="103327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결과:  MAD CMM 57.2  ·  VCD CMM 52.4  </a:t>
            </a:r>
            <a:pPr indent="0" marL="0">
              <a:lnSpc>
                <a:spcPts val="1900"/>
              </a:lnSpc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무음 트랙 공급으로는 논문 수치가 복원되지 않음 (원 파이프라인의 정확한 오디오 처리는 미공개 영역)</a:t>
            </a:r>
            <a:pPr indent="0" marL="0">
              <a:lnSpc>
                <a:spcPts val="1900"/>
              </a:lnSpc>
              <a:buNone/>
            </a:pPr>
            <a:endParaRPr lang="en-US" sz="15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B9C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확정된 사실: 같은 코드·하이퍼에서 오디오 공급 방식만 바꿔도 52.4 ~ 81.3 스윙 — VL2 VCD/MAD × CMM은 “입력 규약 지배 셀”. Base·Qwen 셀은 어느 규약에서도 안정(±2pp). → 본 표의 수치(교정 입력 = Ours 규약)가 Ours와의 비교에 유효한 기준.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결론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822960" y="1463040"/>
            <a:ext cx="2286000" cy="960120"/>
          </a:xfrm>
          <a:prstGeom prst="roundRect">
            <a:avLst>
              <a:gd name="adj" fmla="val 7619"/>
            </a:avLst>
          </a:prstGeom>
          <a:solidFill>
            <a:srgbClr val="2B3A78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463040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표의 지위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3383280" y="1463040"/>
            <a:ext cx="7955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Ours(선배 실측)와 동일 조건의 통제된 재실험 — Ours 행과 직접 비교 가능. Baseline·Qwen MAD 정합이 그 증거.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22960" y="2670048"/>
            <a:ext cx="2286000" cy="960120"/>
          </a:xfrm>
          <a:prstGeom prst="roundRect">
            <a:avLst>
              <a:gd name="adj" fmla="val 7619"/>
            </a:avLst>
          </a:prstGeom>
          <a:solidFill>
            <a:srgbClr val="2B3A78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670048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격차 셀 처리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383280" y="2670048"/>
            <a:ext cx="7955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VL2 VCD/MAD × CMM에 입력 규약 각주 1줄. 실증 실험 수치로 근거 완결 (금일 완료 예정).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22960" y="3877056"/>
            <a:ext cx="2286000" cy="960120"/>
          </a:xfrm>
          <a:prstGeom prst="roundRect">
            <a:avLst>
              <a:gd name="adj" fmla="val 7619"/>
            </a:avLst>
          </a:prstGeom>
          <a:solidFill>
            <a:srgbClr val="2B3A78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3877056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부수 발견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383280" y="3877056"/>
            <a:ext cx="7955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 논문 CMM 수치의 무음 mp4 의존성 — 교정 입력에서는 비교군 이득이 축소되어 Ours의 우위가 더 명확해짐.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22960" y="5084064"/>
            <a:ext cx="2286000" cy="960120"/>
          </a:xfrm>
          <a:prstGeom prst="roundRect">
            <a:avLst>
              <a:gd name="adj" fmla="val 7619"/>
            </a:avLst>
          </a:prstGeom>
          <a:solidFill>
            <a:srgbClr val="2B3A78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5084064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다음 단계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383280" y="5084064"/>
            <a:ext cx="7955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정성 샘플(fig 세트) 최종 선별 → Language Dominance 개선 아이디어(Evidence Amplification) 검증 결과.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22960" y="63093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8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산출물: results/runs/tables/main_table.{md,csv} · 전 실행 메타데이터(seed·config_hash) 저장 · 코드 GitHub 커밋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2026-07-21T03:11:46Z</dcterms:created>
  <dcterms:modified xsi:type="dcterms:W3CDTF">2026-07-21T03:11:46Z</dcterms:modified>
</cp:coreProperties>
</file>